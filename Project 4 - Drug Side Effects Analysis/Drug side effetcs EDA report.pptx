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Lst>
  <p:notesMasterIdLst>
    <p:notesMasterId r:id="rId14"/>
  </p:notesMasterIdLst>
  <p:handoutMasterIdLst>
    <p:handoutMasterId r:id="rId15"/>
  </p:handoutMasterIdLst>
  <p:sldIdLst>
    <p:sldId id="256" r:id="rId5"/>
    <p:sldId id="276" r:id="rId6"/>
    <p:sldId id="294" r:id="rId7"/>
    <p:sldId id="295" r:id="rId8"/>
    <p:sldId id="292" r:id="rId9"/>
    <p:sldId id="289" r:id="rId10"/>
    <p:sldId id="291" r:id="rId11"/>
    <p:sldId id="293" r:id="rId12"/>
    <p:sldId id="28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52" autoAdjust="0"/>
  </p:normalViewPr>
  <p:slideViewPr>
    <p:cSldViewPr snapToGrid="0" showGuides="1">
      <p:cViewPr varScale="1">
        <p:scale>
          <a:sx n="85" d="100"/>
          <a:sy n="85" d="100"/>
        </p:scale>
        <p:origin x="590" y="6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3/31/2026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6149-5C32-1170-B8E4-44B2C7CF1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B5850-0252-697B-C294-E48C27072F8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16BEDC1-97BD-1363-2B67-74449EC711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C616A4-6595-1387-FE2E-961F4C637FC3}"/>
              </a:ext>
            </a:extLst>
          </p:cNvPr>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1205790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94C34-3753-0FD2-F472-9F7E09ABB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E7D1B-DABF-7116-BD4D-27AA5746FE6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73521ED-C26B-F74B-A676-6AAD5BD10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10B3D-7CBC-1E45-3458-DBD296FB8BFB}"/>
              </a:ext>
            </a:extLst>
          </p:cNvPr>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3386033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A4A12-A01B-7FFF-A180-85E6750A2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0C565-C3D2-8DAE-E8D1-1DD99406AFE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B8FAD55-9F15-4706-C538-DFB90E3C07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63669B-01D9-78A8-8D84-212CBB8B39AE}"/>
              </a:ext>
            </a:extLst>
          </p:cNvPr>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3416403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E5C8-9DC9-361A-FCC0-83F1A7468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4D584-650B-AFB2-937C-81D7192F27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54953EC-2879-4A92-BF4F-99090FBF27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9EE81-3265-15B9-264D-9B74FADBFDBE}"/>
              </a:ext>
            </a:extLst>
          </p:cNvPr>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213298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19293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32669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663325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120556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136518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539403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7853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0376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440605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772563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30375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4354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620466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6158973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757820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3528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738678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0DA1498-92C7-4E4B-8045-C9195F453964}" type="datetimeFigureOut">
              <a:rPr lang="en-US" smtClean="0"/>
              <a:t>3/31/2026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472388829"/>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225164" y="2985968"/>
            <a:ext cx="9986645" cy="2893100"/>
          </a:xfrm>
        </p:spPr>
        <p:txBody>
          <a:bodyPr wrap="square" lIns="0" tIns="0" rIns="0" bIns="0" anchor="t">
            <a:spAutoFit/>
          </a:bodyPr>
          <a:lstStyle/>
          <a:p>
            <a:r>
              <a:rPr lang="en-IN" dirty="0">
                <a:solidFill>
                  <a:schemeClr val="bg1"/>
                </a:solidFill>
              </a:rPr>
              <a:t>Drug Analysis: Side Effects &amp; Clinical Insights</a:t>
            </a:r>
            <a:br>
              <a:rPr lang="en-US" dirty="0">
                <a:solidFill>
                  <a:schemeClr val="bg1"/>
                </a:solidFill>
              </a:rPr>
            </a:br>
            <a:r>
              <a:rPr lang="en-US" sz="4000" dirty="0">
                <a:solidFill>
                  <a:schemeClr val="tx1">
                    <a:lumMod val="85000"/>
                  </a:schemeClr>
                </a:solidFill>
              </a:rPr>
              <a:t>Exploratory data analysis </a:t>
            </a:r>
            <a:r>
              <a:rPr lang="en-IN" sz="4000" dirty="0">
                <a:solidFill>
                  <a:schemeClr val="tx1">
                    <a:lumMod val="85000"/>
                  </a:schemeClr>
                </a:solidFill>
              </a:rPr>
              <a:t>of Drug Safety and Usage Patterns</a:t>
            </a:r>
            <a:r>
              <a:rPr lang="en-US" sz="4000" dirty="0">
                <a:solidFill>
                  <a:schemeClr val="tx1">
                    <a:lumMod val="85000"/>
                  </a:schemeClr>
                </a:solidFill>
              </a:rPr>
              <a:t> </a:t>
            </a:r>
            <a:endParaRPr lang="en-US" dirty="0">
              <a:solidFill>
                <a:schemeClr val="tx1">
                  <a:lumMod val="85000"/>
                </a:schemeClr>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5323483" y="870108"/>
            <a:ext cx="1496033" cy="1693612"/>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5102138" y="98728"/>
            <a:ext cx="1938725" cy="2464992"/>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26520" y="2586206"/>
            <a:ext cx="489958" cy="496414"/>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 name="TextBox 2">
            <a:extLst>
              <a:ext uri="{FF2B5EF4-FFF2-40B4-BE49-F238E27FC236}">
                <a16:creationId xmlns:a16="http://schemas.microsoft.com/office/drawing/2014/main" id="{6F5AD130-CD11-BC1C-9108-25A562168AC7}"/>
              </a:ext>
            </a:extLst>
          </p:cNvPr>
          <p:cNvSpPr txBox="1"/>
          <p:nvPr/>
        </p:nvSpPr>
        <p:spPr>
          <a:xfrm>
            <a:off x="9601200" y="6053936"/>
            <a:ext cx="2160494" cy="369332"/>
          </a:xfrm>
          <a:prstGeom prst="rect">
            <a:avLst/>
          </a:prstGeom>
          <a:noFill/>
        </p:spPr>
        <p:txBody>
          <a:bodyPr wrap="square" rtlCol="0">
            <a:spAutoFit/>
          </a:bodyPr>
          <a:lstStyle/>
          <a:p>
            <a:r>
              <a:rPr lang="en-US" b="1" dirty="0">
                <a:solidFill>
                  <a:schemeClr val="bg1"/>
                </a:solidFill>
              </a:rPr>
              <a:t>RAMPRASAD M</a:t>
            </a:r>
            <a:endParaRPr lang="en-IN" b="1" dirty="0">
              <a:solidFill>
                <a:schemeClr val="bg1"/>
              </a:solidFill>
            </a:endParaRP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B366161-95BF-E139-6DF1-8FD1B8167B0A}"/>
              </a:ext>
            </a:extLst>
          </p:cNvPr>
          <p:cNvSpPr txBox="1">
            <a:spLocks/>
          </p:cNvSpPr>
          <p:nvPr/>
        </p:nvSpPr>
        <p:spPr>
          <a:xfrm>
            <a:off x="228600" y="273600"/>
            <a:ext cx="11734800"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tx1">
                    <a:lumMod val="75000"/>
                    <a:lumOff val="25000"/>
                  </a:schemeClr>
                </a:solidFill>
              </a:rPr>
              <a:t>OBJECTIVE</a:t>
            </a:r>
            <a:endParaRPr lang="en-US" sz="2800" dirty="0">
              <a:solidFill>
                <a:schemeClr val="tx1">
                  <a:lumMod val="75000"/>
                  <a:lumOff val="25000"/>
                </a:schemeClr>
              </a:solidFill>
            </a:endParaRPr>
          </a:p>
        </p:txBody>
      </p:sp>
      <p:sp>
        <p:nvSpPr>
          <p:cNvPr id="3" name="Rectangle 1">
            <a:extLst>
              <a:ext uri="{FF2B5EF4-FFF2-40B4-BE49-F238E27FC236}">
                <a16:creationId xmlns:a16="http://schemas.microsoft.com/office/drawing/2014/main" id="{295C28B7-1311-092B-A506-65EF76C45EA6}"/>
              </a:ext>
            </a:extLst>
          </p:cNvPr>
          <p:cNvSpPr>
            <a:spLocks noChangeArrowheads="1"/>
          </p:cNvSpPr>
          <p:nvPr/>
        </p:nvSpPr>
        <p:spPr bwMode="auto">
          <a:xfrm>
            <a:off x="873651" y="903167"/>
            <a:ext cx="8403262"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Analyze distribution of drugs across medical conditions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Identify common side effects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Evaluate prescription patterns (Rx vs OTC)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Explore drug classes and clinical relevance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Assess safety factors (alcohol, pregnancy, severity) </a:t>
            </a:r>
          </a:p>
        </p:txBody>
      </p:sp>
      <p:cxnSp>
        <p:nvCxnSpPr>
          <p:cNvPr id="9" name="Straight Connector 8">
            <a:extLst>
              <a:ext uri="{FF2B5EF4-FFF2-40B4-BE49-F238E27FC236}">
                <a16:creationId xmlns:a16="http://schemas.microsoft.com/office/drawing/2014/main" id="{A1345B0B-E381-FC2C-12F4-1702E208983F}"/>
              </a:ext>
              <a:ext uri="{C183D7F6-B498-43B3-948B-1728B52AA6E4}">
                <adec:decorative xmlns:adec="http://schemas.microsoft.com/office/drawing/2017/decorative" val="1"/>
              </a:ext>
            </a:extLst>
          </p:cNvPr>
          <p:cNvCxnSpPr>
            <a:cxnSpLocks/>
          </p:cNvCxnSpPr>
          <p:nvPr/>
        </p:nvCxnSpPr>
        <p:spPr>
          <a:xfrm>
            <a:off x="8738347" y="3429000"/>
            <a:ext cx="3453653"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20AAEA5-AA1D-92A9-A89D-F23E1CFF652E}"/>
              </a:ext>
              <a:ext uri="{C183D7F6-B498-43B3-948B-1728B52AA6E4}">
                <adec:decorative xmlns:adec="http://schemas.microsoft.com/office/drawing/2017/decorative" val="1"/>
              </a:ext>
            </a:extLst>
          </p:cNvPr>
          <p:cNvCxnSpPr>
            <a:cxnSpLocks/>
          </p:cNvCxnSpPr>
          <p:nvPr/>
        </p:nvCxnSpPr>
        <p:spPr>
          <a:xfrm>
            <a:off x="0" y="3429000"/>
            <a:ext cx="3585882"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B479B68-B95F-B3B3-ED83-F4D13FC269B5}"/>
              </a:ext>
            </a:extLst>
          </p:cNvPr>
          <p:cNvSpPr txBox="1"/>
          <p:nvPr/>
        </p:nvSpPr>
        <p:spPr>
          <a:xfrm>
            <a:off x="3585882" y="3105834"/>
            <a:ext cx="5152465" cy="646331"/>
          </a:xfrm>
          <a:prstGeom prst="rect">
            <a:avLst/>
          </a:prstGeom>
          <a:noFill/>
        </p:spPr>
        <p:txBody>
          <a:bodyPr wrap="square">
            <a:spAutoFit/>
          </a:bodyPr>
          <a:lstStyle/>
          <a:p>
            <a:r>
              <a:rPr lang="en-IN" sz="3600" b="1" dirty="0">
                <a:solidFill>
                  <a:schemeClr val="tx1">
                    <a:lumMod val="75000"/>
                    <a:lumOff val="25000"/>
                  </a:schemeClr>
                </a:solidFill>
                <a:latin typeface="+mj-lt"/>
                <a:ea typeface="+mj-ea"/>
                <a:cs typeface="+mj-cs"/>
              </a:rPr>
              <a:t>DATASET OVERVIEW</a:t>
            </a:r>
          </a:p>
        </p:txBody>
      </p:sp>
      <p:sp>
        <p:nvSpPr>
          <p:cNvPr id="24" name="Rectangle 2">
            <a:extLst>
              <a:ext uri="{FF2B5EF4-FFF2-40B4-BE49-F238E27FC236}">
                <a16:creationId xmlns:a16="http://schemas.microsoft.com/office/drawing/2014/main" id="{8660C8FA-FC5F-1001-EEF1-21DD8126981F}"/>
              </a:ext>
            </a:extLst>
          </p:cNvPr>
          <p:cNvSpPr>
            <a:spLocks noChangeArrowheads="1"/>
          </p:cNvSpPr>
          <p:nvPr/>
        </p:nvSpPr>
        <p:spPr bwMode="auto">
          <a:xfrm>
            <a:off x="873651" y="4021730"/>
            <a:ext cx="10556349"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Total records: 2931 drugs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Variables: 17 columns (drug name, condition, side effects, rating, etc.)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Key missing data: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Alcohol interaction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Ratings &amp; reviews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500" dirty="0">
                <a:solidFill>
                  <a:schemeClr val="accent1">
                    <a:lumMod val="60000"/>
                    <a:lumOff val="40000"/>
                  </a:schemeClr>
                </a:solidFill>
                <a:latin typeface="Arial" panose="020B0604020202020204" pitchFamily="34" charset="0"/>
                <a:ea typeface="Calibri" panose="020F0502020204030204" pitchFamily="34" charset="0"/>
                <a:cs typeface="Arial" panose="020B0604020202020204" pitchFamily="34" charset="0"/>
              </a:rPr>
              <a:t>Data cleaning performed for consistency </a:t>
            </a:r>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ED8B8-5CE6-ED8E-20B0-01F68254A825}"/>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9E48A3B8-2EB0-5866-C110-C8CED71BC1A2}"/>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A2507001-3C27-8CB1-975D-BB3A1D3B5914}"/>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1058752-6407-2E3A-8782-A5F0F01E6CD8}"/>
              </a:ext>
            </a:extLst>
          </p:cNvPr>
          <p:cNvSpPr txBox="1">
            <a:spLocks/>
          </p:cNvSpPr>
          <p:nvPr/>
        </p:nvSpPr>
        <p:spPr>
          <a:xfrm>
            <a:off x="237213" y="33829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INSIGHTS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CF0C46F6-5037-0130-B53A-D4D436F91DB7}"/>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FB3E526-8BAB-BDCF-5C6C-7C90DCE9DB03}"/>
              </a:ext>
            </a:extLst>
          </p:cNvPr>
          <p:cNvSpPr>
            <a:spLocks noChangeArrowheads="1"/>
          </p:cNvSpPr>
          <p:nvPr/>
        </p:nvSpPr>
        <p:spPr bwMode="auto">
          <a:xfrm>
            <a:off x="1030942" y="1447731"/>
            <a:ext cx="591670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Pain, Cold &amp; Flu, Acne are most common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Indicates high prevalence of symptomatic treatments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Chronic conditions also significantly represented </a:t>
            </a:r>
          </a:p>
        </p:txBody>
      </p:sp>
      <p:sp>
        <p:nvSpPr>
          <p:cNvPr id="5" name="TextBox 4">
            <a:extLst>
              <a:ext uri="{FF2B5EF4-FFF2-40B4-BE49-F238E27FC236}">
                <a16:creationId xmlns:a16="http://schemas.microsoft.com/office/drawing/2014/main" id="{F62C0E57-E83E-9BB4-F6CE-1875952A8D21}"/>
              </a:ext>
            </a:extLst>
          </p:cNvPr>
          <p:cNvSpPr txBox="1"/>
          <p:nvPr/>
        </p:nvSpPr>
        <p:spPr>
          <a:xfrm>
            <a:off x="549088" y="1012121"/>
            <a:ext cx="3637430" cy="430887"/>
          </a:xfrm>
          <a:prstGeom prst="rect">
            <a:avLst/>
          </a:prstGeom>
          <a:noFill/>
        </p:spPr>
        <p:txBody>
          <a:bodyPr wrap="square">
            <a:spAutoFit/>
          </a:bodyPr>
          <a:lstStyle/>
          <a:p>
            <a:r>
              <a:rPr lang="en-IN" sz="2200" b="1" dirty="0">
                <a:solidFill>
                  <a:schemeClr val="accent6">
                    <a:lumMod val="40000"/>
                    <a:lumOff val="60000"/>
                  </a:schemeClr>
                </a:solidFill>
              </a:rPr>
              <a:t>Top Medical Conditions</a:t>
            </a:r>
          </a:p>
        </p:txBody>
      </p:sp>
      <p:pic>
        <p:nvPicPr>
          <p:cNvPr id="18" name="Picture 17">
            <a:extLst>
              <a:ext uri="{FF2B5EF4-FFF2-40B4-BE49-F238E27FC236}">
                <a16:creationId xmlns:a16="http://schemas.microsoft.com/office/drawing/2014/main" id="{DA460ECA-0ACA-C489-115F-3DDFA2A6FD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2146" y="781053"/>
            <a:ext cx="4482353" cy="2186808"/>
          </a:xfrm>
          <a:prstGeom prst="rect">
            <a:avLst/>
          </a:prstGeom>
        </p:spPr>
      </p:pic>
      <p:sp>
        <p:nvSpPr>
          <p:cNvPr id="4" name="TextBox 3">
            <a:extLst>
              <a:ext uri="{FF2B5EF4-FFF2-40B4-BE49-F238E27FC236}">
                <a16:creationId xmlns:a16="http://schemas.microsoft.com/office/drawing/2014/main" id="{EB32ECBF-5578-1252-D5BD-2D9E30496248}"/>
              </a:ext>
            </a:extLst>
          </p:cNvPr>
          <p:cNvSpPr txBox="1"/>
          <p:nvPr/>
        </p:nvSpPr>
        <p:spPr>
          <a:xfrm>
            <a:off x="6351953" y="3520122"/>
            <a:ext cx="4683600" cy="430887"/>
          </a:xfrm>
          <a:prstGeom prst="rect">
            <a:avLst/>
          </a:prstGeom>
          <a:noFill/>
        </p:spPr>
        <p:txBody>
          <a:bodyPr wrap="square">
            <a:spAutoFit/>
          </a:bodyPr>
          <a:lstStyle/>
          <a:p>
            <a:r>
              <a:rPr lang="en-IN" sz="2200" b="1" dirty="0">
                <a:solidFill>
                  <a:schemeClr val="accent6">
                    <a:lumMod val="40000"/>
                    <a:lumOff val="60000"/>
                  </a:schemeClr>
                </a:solidFill>
              </a:rPr>
              <a:t>Review Count  vs  Drug Rating</a:t>
            </a:r>
          </a:p>
        </p:txBody>
      </p:sp>
      <p:sp>
        <p:nvSpPr>
          <p:cNvPr id="6" name="Rectangle 1">
            <a:extLst>
              <a:ext uri="{FF2B5EF4-FFF2-40B4-BE49-F238E27FC236}">
                <a16:creationId xmlns:a16="http://schemas.microsoft.com/office/drawing/2014/main" id="{5D2C0868-2FCD-569A-9753-DEBC5CEBFF75}"/>
              </a:ext>
            </a:extLst>
          </p:cNvPr>
          <p:cNvSpPr>
            <a:spLocks noChangeArrowheads="1"/>
          </p:cNvSpPr>
          <p:nvPr/>
        </p:nvSpPr>
        <p:spPr bwMode="auto">
          <a:xfrm>
            <a:off x="5720417" y="3951009"/>
            <a:ext cx="610402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Majority of drugs have low review counts (&lt;200)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Ratings are mostly between 5–9 range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No strong linear relationship between reviews and rating</a:t>
            </a:r>
          </a:p>
          <a:p>
            <a:pPr marL="285750" lvl="0" indent="-285750" defTabSz="914400" eaLnBrk="0" fontAlgn="base" hangingPunct="0">
              <a:spcBef>
                <a:spcPct val="0"/>
              </a:spcBef>
              <a:spcAft>
                <a:spcPct val="0"/>
              </a:spcAft>
              <a:buFont typeface="Arial" panose="020B0604020202020204" pitchFamily="34" charset="0"/>
              <a:buChar char="•"/>
            </a:pPr>
            <a:r>
              <a:rPr lang="en-IN" dirty="0">
                <a:latin typeface="Arial" panose="020B0604020202020204" pitchFamily="34" charset="0"/>
              </a:rPr>
              <a:t>Higher review counts tend to stabilize ratings, indicating consistent drug performance across larger patient populations</a:t>
            </a:r>
            <a:r>
              <a:rPr lang="en-IN" dirty="0"/>
              <a:t>.</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5" name="Picture 14">
            <a:extLst>
              <a:ext uri="{FF2B5EF4-FFF2-40B4-BE49-F238E27FC236}">
                <a16:creationId xmlns:a16="http://schemas.microsoft.com/office/drawing/2014/main" id="{1EEFF9BE-47A0-5D34-9C96-49641C4D20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562" y="2632137"/>
            <a:ext cx="5141574" cy="3784771"/>
          </a:xfrm>
          <a:prstGeom prst="rect">
            <a:avLst/>
          </a:prstGeom>
        </p:spPr>
      </p:pic>
    </p:spTree>
    <p:extLst>
      <p:ext uri="{BB962C8B-B14F-4D97-AF65-F5344CB8AC3E}">
        <p14:creationId xmlns:p14="http://schemas.microsoft.com/office/powerpoint/2010/main" val="3967372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BA9D-5D92-3DAA-77C0-AF3264A9843A}"/>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968F89FB-B4B5-7377-C91D-0BBDAF6E1A78}"/>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A5385B29-397B-8718-D97A-464F2719642F}"/>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E1354075-E935-9C63-9ABD-CB28657649F1}"/>
              </a:ext>
            </a:extLst>
          </p:cNvPr>
          <p:cNvSpPr txBox="1">
            <a:spLocks/>
          </p:cNvSpPr>
          <p:nvPr/>
        </p:nvSpPr>
        <p:spPr>
          <a:xfrm>
            <a:off x="237213" y="33829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INSIGHTS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29ADF34E-B31F-84B2-89CB-4FDA68B18679}"/>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87EC1C7-6FA9-4575-4BC6-65D79F17E6C4}"/>
              </a:ext>
            </a:extLst>
          </p:cNvPr>
          <p:cNvSpPr txBox="1"/>
          <p:nvPr/>
        </p:nvSpPr>
        <p:spPr>
          <a:xfrm>
            <a:off x="352927" y="953785"/>
            <a:ext cx="4543926" cy="430887"/>
          </a:xfrm>
          <a:prstGeom prst="rect">
            <a:avLst/>
          </a:prstGeom>
          <a:noFill/>
        </p:spPr>
        <p:txBody>
          <a:bodyPr wrap="square">
            <a:spAutoFit/>
          </a:bodyPr>
          <a:lstStyle/>
          <a:p>
            <a:r>
              <a:rPr lang="en-IN" sz="2200" b="1" dirty="0">
                <a:solidFill>
                  <a:schemeClr val="accent6">
                    <a:lumMod val="40000"/>
                    <a:lumOff val="60000"/>
                  </a:schemeClr>
                </a:solidFill>
              </a:rPr>
              <a:t>Drug Class vs Nausea Occurrence</a:t>
            </a:r>
          </a:p>
        </p:txBody>
      </p:sp>
      <p:sp>
        <p:nvSpPr>
          <p:cNvPr id="16" name="TextBox 15">
            <a:extLst>
              <a:ext uri="{FF2B5EF4-FFF2-40B4-BE49-F238E27FC236}">
                <a16:creationId xmlns:a16="http://schemas.microsoft.com/office/drawing/2014/main" id="{D40F37A5-D50A-899A-8890-691126B9048E}"/>
              </a:ext>
            </a:extLst>
          </p:cNvPr>
          <p:cNvSpPr txBox="1"/>
          <p:nvPr/>
        </p:nvSpPr>
        <p:spPr>
          <a:xfrm>
            <a:off x="237213" y="1484076"/>
            <a:ext cx="5040163" cy="1754326"/>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rPr>
              <a:t>Gastrointestinal side effects are class-specific</a:t>
            </a:r>
          </a:p>
          <a:p>
            <a:pPr marL="285750" indent="-285750">
              <a:buFont typeface="Arial" panose="020B0604020202020204" pitchFamily="34" charset="0"/>
              <a:buChar char="•"/>
            </a:pPr>
            <a:r>
              <a:rPr lang="en-IN" dirty="0">
                <a:latin typeface="Arial" panose="020B0604020202020204" pitchFamily="34" charset="0"/>
              </a:rPr>
              <a:t>This indicates that adverse effects like nausea are not random but linked to specific pharmacological classes, helping in safer drug selection.</a:t>
            </a:r>
          </a:p>
        </p:txBody>
      </p:sp>
      <p:pic>
        <p:nvPicPr>
          <p:cNvPr id="17" name="Picture 16">
            <a:extLst>
              <a:ext uri="{FF2B5EF4-FFF2-40B4-BE49-F238E27FC236}">
                <a16:creationId xmlns:a16="http://schemas.microsoft.com/office/drawing/2014/main" id="{DE146CEC-5A1A-AA0E-4CD5-89D9D5733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6472" y="965128"/>
            <a:ext cx="6235858" cy="2285138"/>
          </a:xfrm>
          <a:prstGeom prst="rect">
            <a:avLst/>
          </a:prstGeom>
        </p:spPr>
      </p:pic>
      <p:pic>
        <p:nvPicPr>
          <p:cNvPr id="19" name="Picture 18">
            <a:extLst>
              <a:ext uri="{FF2B5EF4-FFF2-40B4-BE49-F238E27FC236}">
                <a16:creationId xmlns:a16="http://schemas.microsoft.com/office/drawing/2014/main" id="{8E196408-7BB4-A3B7-5BF4-E21C2D48A7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2153" y="3619598"/>
            <a:ext cx="5444412" cy="2718441"/>
          </a:xfrm>
          <a:prstGeom prst="rect">
            <a:avLst/>
          </a:prstGeom>
        </p:spPr>
      </p:pic>
      <p:sp>
        <p:nvSpPr>
          <p:cNvPr id="22" name="TextBox 21">
            <a:extLst>
              <a:ext uri="{FF2B5EF4-FFF2-40B4-BE49-F238E27FC236}">
                <a16:creationId xmlns:a16="http://schemas.microsoft.com/office/drawing/2014/main" id="{8D091C8B-FAD3-3DC7-26A3-270CC1E28E6E}"/>
              </a:ext>
            </a:extLst>
          </p:cNvPr>
          <p:cNvSpPr txBox="1"/>
          <p:nvPr/>
        </p:nvSpPr>
        <p:spPr>
          <a:xfrm>
            <a:off x="485274" y="3607734"/>
            <a:ext cx="6104020" cy="430887"/>
          </a:xfrm>
          <a:prstGeom prst="rect">
            <a:avLst/>
          </a:prstGeom>
          <a:noFill/>
        </p:spPr>
        <p:txBody>
          <a:bodyPr wrap="square">
            <a:spAutoFit/>
          </a:bodyPr>
          <a:lstStyle/>
          <a:p>
            <a:r>
              <a:rPr lang="en-IN" sz="2200" b="1" dirty="0">
                <a:solidFill>
                  <a:schemeClr val="accent6">
                    <a:lumMod val="40000"/>
                    <a:lumOff val="60000"/>
                  </a:schemeClr>
                </a:solidFill>
              </a:rPr>
              <a:t>Lowest Rated Medical Conditions</a:t>
            </a:r>
          </a:p>
        </p:txBody>
      </p:sp>
      <p:sp>
        <p:nvSpPr>
          <p:cNvPr id="23" name="Rectangle 1">
            <a:extLst>
              <a:ext uri="{FF2B5EF4-FFF2-40B4-BE49-F238E27FC236}">
                <a16:creationId xmlns:a16="http://schemas.microsoft.com/office/drawing/2014/main" id="{B9ED3E5B-B6AF-4E26-42AF-2BD120186426}"/>
              </a:ext>
            </a:extLst>
          </p:cNvPr>
          <p:cNvSpPr>
            <a:spLocks noChangeArrowheads="1"/>
          </p:cNvSpPr>
          <p:nvPr/>
        </p:nvSpPr>
        <p:spPr bwMode="auto">
          <a:xfrm>
            <a:off x="237212" y="4219762"/>
            <a:ext cx="51953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fontAlgn="base">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Conditions like: COVID-19, Osteoporosis , Allergies show lower average ratings </a:t>
            </a:r>
          </a:p>
          <a:p>
            <a:pPr marL="285750" marR="0" lvl="0" indent="-285750" fontAlgn="base">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Ratings range approximately 4.6 – 5.9 </a:t>
            </a:r>
          </a:p>
          <a:p>
            <a:pPr marL="285750" indent="-285750">
              <a:buFont typeface="Arial" panose="020B0604020202020204" pitchFamily="34" charset="0"/>
              <a:buChar char="•"/>
            </a:pPr>
            <a:r>
              <a:rPr lang="en-IN" dirty="0">
                <a:latin typeface="Arial" panose="020B0604020202020204" pitchFamily="34" charset="0"/>
              </a:rPr>
              <a:t>Lower ratings suggest:</a:t>
            </a:r>
          </a:p>
          <a:p>
            <a:pPr marL="742950" lvl="1" indent="-285750">
              <a:buFont typeface="Arial" panose="020B0604020202020204" pitchFamily="34" charset="0"/>
              <a:buChar char="•"/>
            </a:pPr>
            <a:r>
              <a:rPr lang="en-IN" dirty="0">
                <a:latin typeface="Arial" panose="020B0604020202020204" pitchFamily="34" charset="0"/>
              </a:rPr>
              <a:t>Reduced treatment satisfaction </a:t>
            </a:r>
          </a:p>
          <a:p>
            <a:pPr marL="742950" lvl="1" indent="-285750">
              <a:buFont typeface="Arial" panose="020B0604020202020204" pitchFamily="34" charset="0"/>
              <a:buChar char="•"/>
            </a:pPr>
            <a:r>
              <a:rPr lang="en-IN" dirty="0">
                <a:latin typeface="Arial" panose="020B0604020202020204" pitchFamily="34" charset="0"/>
              </a:rPr>
              <a:t>Possible variability in drug effectiveness </a:t>
            </a:r>
          </a:p>
          <a:p>
            <a:pPr marL="742950" lvl="1" indent="-285750">
              <a:buFont typeface="Arial" panose="020B0604020202020204" pitchFamily="34" charset="0"/>
              <a:buChar char="•"/>
            </a:pPr>
            <a:r>
              <a:rPr lang="en-IN" dirty="0">
                <a:latin typeface="Arial" panose="020B0604020202020204" pitchFamily="34" charset="0"/>
              </a:rPr>
              <a:t>Need for improved or personalized therapies </a:t>
            </a:r>
          </a:p>
        </p:txBody>
      </p:sp>
    </p:spTree>
    <p:extLst>
      <p:ext uri="{BB962C8B-B14F-4D97-AF65-F5344CB8AC3E}">
        <p14:creationId xmlns:p14="http://schemas.microsoft.com/office/powerpoint/2010/main" val="3007159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FEDD1-16E3-4FC9-535E-FEA770933029}"/>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3D7486DB-649F-D2D6-FF7E-53E1624771D8}"/>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5431AF67-433E-F56E-1363-8866B142C29B}"/>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CC31194-A009-B8BE-6F46-4950E62F5120}"/>
              </a:ext>
            </a:extLst>
          </p:cNvPr>
          <p:cNvSpPr txBox="1">
            <a:spLocks/>
          </p:cNvSpPr>
          <p:nvPr/>
        </p:nvSpPr>
        <p:spPr>
          <a:xfrm>
            <a:off x="237213" y="33829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INSIGHTS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2DFCBA8B-3983-3F78-07B4-23B45135C44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CD09BC4-E0CD-BAB4-7B22-E982A8B2C4CD}"/>
              </a:ext>
            </a:extLst>
          </p:cNvPr>
          <p:cNvSpPr txBox="1"/>
          <p:nvPr/>
        </p:nvSpPr>
        <p:spPr>
          <a:xfrm>
            <a:off x="310276" y="1020841"/>
            <a:ext cx="6100482" cy="430887"/>
          </a:xfrm>
          <a:prstGeom prst="rect">
            <a:avLst/>
          </a:prstGeom>
          <a:noFill/>
        </p:spPr>
        <p:txBody>
          <a:bodyPr wrap="square">
            <a:spAutoFit/>
          </a:bodyPr>
          <a:lstStyle/>
          <a:p>
            <a:r>
              <a:rPr lang="en-IN" sz="2200" b="1" dirty="0">
                <a:solidFill>
                  <a:schemeClr val="accent6">
                    <a:lumMod val="40000"/>
                    <a:lumOff val="60000"/>
                  </a:schemeClr>
                </a:solidFill>
              </a:rPr>
              <a:t>Side Effects &amp; Drug Classes</a:t>
            </a:r>
          </a:p>
        </p:txBody>
      </p:sp>
      <p:sp>
        <p:nvSpPr>
          <p:cNvPr id="16" name="Rectangle 2">
            <a:extLst>
              <a:ext uri="{FF2B5EF4-FFF2-40B4-BE49-F238E27FC236}">
                <a16:creationId xmlns:a16="http://schemas.microsoft.com/office/drawing/2014/main" id="{EB1E7ED4-FF30-36D5-A876-890B339BC5B4}"/>
              </a:ext>
            </a:extLst>
          </p:cNvPr>
          <p:cNvSpPr>
            <a:spLocks noChangeArrowheads="1"/>
          </p:cNvSpPr>
          <p:nvPr/>
        </p:nvSpPr>
        <p:spPr bwMode="auto">
          <a:xfrm>
            <a:off x="365927" y="1451728"/>
            <a:ext cx="589877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Common side effects: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Hives, swelling, breathing difficulty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Indicates hypersensitivity reactions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Major drug classes: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Respiratory, dermatological, anti-inflammatory</a:t>
            </a:r>
          </a:p>
        </p:txBody>
      </p:sp>
      <p:pic>
        <p:nvPicPr>
          <p:cNvPr id="20" name="Picture 19">
            <a:extLst>
              <a:ext uri="{FF2B5EF4-FFF2-40B4-BE49-F238E27FC236}">
                <a16:creationId xmlns:a16="http://schemas.microsoft.com/office/drawing/2014/main" id="{47D830BD-95B6-A0A0-2231-29D6EDD8E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901255"/>
            <a:ext cx="2777405" cy="2415792"/>
          </a:xfrm>
          <a:prstGeom prst="rect">
            <a:avLst/>
          </a:prstGeom>
        </p:spPr>
      </p:pic>
      <p:pic>
        <p:nvPicPr>
          <p:cNvPr id="26" name="Picture 25">
            <a:extLst>
              <a:ext uri="{FF2B5EF4-FFF2-40B4-BE49-F238E27FC236}">
                <a16:creationId xmlns:a16="http://schemas.microsoft.com/office/drawing/2014/main" id="{391FA50E-252A-3DEB-E12A-074B80BF2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1132" y="910696"/>
            <a:ext cx="2938581" cy="2343485"/>
          </a:xfrm>
          <a:prstGeom prst="rect">
            <a:avLst/>
          </a:prstGeom>
        </p:spPr>
      </p:pic>
      <p:sp>
        <p:nvSpPr>
          <p:cNvPr id="6" name="TextBox 5">
            <a:extLst>
              <a:ext uri="{FF2B5EF4-FFF2-40B4-BE49-F238E27FC236}">
                <a16:creationId xmlns:a16="http://schemas.microsoft.com/office/drawing/2014/main" id="{2D9A0E21-3C7F-9497-9E0D-4D57A106A671}"/>
              </a:ext>
            </a:extLst>
          </p:cNvPr>
          <p:cNvSpPr txBox="1"/>
          <p:nvPr/>
        </p:nvSpPr>
        <p:spPr>
          <a:xfrm>
            <a:off x="5823164" y="3971397"/>
            <a:ext cx="6100482" cy="430887"/>
          </a:xfrm>
          <a:prstGeom prst="rect">
            <a:avLst/>
          </a:prstGeom>
          <a:noFill/>
        </p:spPr>
        <p:txBody>
          <a:bodyPr wrap="square">
            <a:spAutoFit/>
          </a:bodyPr>
          <a:lstStyle/>
          <a:p>
            <a:r>
              <a:rPr lang="en-IN" sz="2200" b="1" dirty="0">
                <a:solidFill>
                  <a:schemeClr val="accent6">
                    <a:lumMod val="40000"/>
                    <a:lumOff val="60000"/>
                  </a:schemeClr>
                </a:solidFill>
              </a:rPr>
              <a:t>Rating &amp; Effectiveness</a:t>
            </a:r>
          </a:p>
        </p:txBody>
      </p:sp>
      <p:sp>
        <p:nvSpPr>
          <p:cNvPr id="9" name="Rectangle 1">
            <a:extLst>
              <a:ext uri="{FF2B5EF4-FFF2-40B4-BE49-F238E27FC236}">
                <a16:creationId xmlns:a16="http://schemas.microsoft.com/office/drawing/2014/main" id="{1A2FB8EA-E56F-537B-6A11-DDDA8925FCA8}"/>
              </a:ext>
            </a:extLst>
          </p:cNvPr>
          <p:cNvSpPr>
            <a:spLocks noChangeArrowheads="1"/>
          </p:cNvSpPr>
          <p:nvPr/>
        </p:nvSpPr>
        <p:spPr bwMode="auto">
          <a:xfrm>
            <a:off x="5559545" y="4697037"/>
            <a:ext cx="636410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Most drugs show moderate–high ratings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Variation suggests:  Patient response differences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Disease complexity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Some conditions show lower satisfaction → unmet needs </a:t>
            </a:r>
          </a:p>
        </p:txBody>
      </p:sp>
      <p:pic>
        <p:nvPicPr>
          <p:cNvPr id="12" name="Picture 11">
            <a:extLst>
              <a:ext uri="{FF2B5EF4-FFF2-40B4-BE49-F238E27FC236}">
                <a16:creationId xmlns:a16="http://schemas.microsoft.com/office/drawing/2014/main" id="{F2EEEFFC-7157-E291-7206-25B6C71F65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213" y="3810796"/>
            <a:ext cx="4757627" cy="2741575"/>
          </a:xfrm>
          <a:prstGeom prst="rect">
            <a:avLst/>
          </a:prstGeom>
        </p:spPr>
      </p:pic>
    </p:spTree>
    <p:extLst>
      <p:ext uri="{BB962C8B-B14F-4D97-AF65-F5344CB8AC3E}">
        <p14:creationId xmlns:p14="http://schemas.microsoft.com/office/powerpoint/2010/main" val="4106654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D7D0D408-32BB-4B74-DAF8-78F88315B23E}"/>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E3695C51-6A43-A1B1-B605-165B28EDE8F9}"/>
              </a:ext>
            </a:extLst>
          </p:cNvPr>
          <p:cNvSpPr txBox="1">
            <a:spLocks/>
          </p:cNvSpPr>
          <p:nvPr/>
        </p:nvSpPr>
        <p:spPr>
          <a:xfrm>
            <a:off x="263387" y="339246"/>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INSIGHTS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21" name="Straight Connector 20">
            <a:extLst>
              <a:ext uri="{FF2B5EF4-FFF2-40B4-BE49-F238E27FC236}">
                <a16:creationId xmlns:a16="http://schemas.microsoft.com/office/drawing/2014/main" id="{F48B8858-0107-473F-467D-5E7CC275FD0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25266D45-426F-C123-51B7-F4ADDF068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87" y="3191015"/>
            <a:ext cx="5198012" cy="2599006"/>
          </a:xfrm>
          <a:prstGeom prst="rect">
            <a:avLst/>
          </a:prstGeom>
        </p:spPr>
      </p:pic>
      <p:sp>
        <p:nvSpPr>
          <p:cNvPr id="3" name="TextBox 2">
            <a:extLst>
              <a:ext uri="{FF2B5EF4-FFF2-40B4-BE49-F238E27FC236}">
                <a16:creationId xmlns:a16="http://schemas.microsoft.com/office/drawing/2014/main" id="{EAFFD7A7-005A-A532-32AB-E86ED9968E22}"/>
              </a:ext>
            </a:extLst>
          </p:cNvPr>
          <p:cNvSpPr txBox="1"/>
          <p:nvPr/>
        </p:nvSpPr>
        <p:spPr>
          <a:xfrm>
            <a:off x="844307" y="899399"/>
            <a:ext cx="6104020" cy="430887"/>
          </a:xfrm>
          <a:prstGeom prst="rect">
            <a:avLst/>
          </a:prstGeom>
          <a:noFill/>
        </p:spPr>
        <p:txBody>
          <a:bodyPr wrap="square">
            <a:spAutoFit/>
          </a:bodyPr>
          <a:lstStyle/>
          <a:p>
            <a:r>
              <a:rPr lang="en-IN" sz="2200" b="1" dirty="0">
                <a:solidFill>
                  <a:schemeClr val="accent6">
                    <a:lumMod val="40000"/>
                    <a:lumOff val="60000"/>
                  </a:schemeClr>
                </a:solidFill>
              </a:rPr>
              <a:t>Prescription vs OTC Drug Distribution</a:t>
            </a:r>
          </a:p>
        </p:txBody>
      </p:sp>
      <p:sp>
        <p:nvSpPr>
          <p:cNvPr id="5" name="TextBox 4">
            <a:extLst>
              <a:ext uri="{FF2B5EF4-FFF2-40B4-BE49-F238E27FC236}">
                <a16:creationId xmlns:a16="http://schemas.microsoft.com/office/drawing/2014/main" id="{E7C1F096-DA3D-57A7-E7E0-7D38841270DA}"/>
              </a:ext>
            </a:extLst>
          </p:cNvPr>
          <p:cNvSpPr txBox="1"/>
          <p:nvPr/>
        </p:nvSpPr>
        <p:spPr>
          <a:xfrm>
            <a:off x="844307" y="1454668"/>
            <a:ext cx="6104020" cy="923330"/>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rPr>
              <a:t>Most treatments require medical supervision, reflecting the importance of controlled prescribing due to potential risks and adverse effects.</a:t>
            </a:r>
          </a:p>
        </p:txBody>
      </p:sp>
      <p:pic>
        <p:nvPicPr>
          <p:cNvPr id="6" name="Picture 5">
            <a:extLst>
              <a:ext uri="{FF2B5EF4-FFF2-40B4-BE49-F238E27FC236}">
                <a16:creationId xmlns:a16="http://schemas.microsoft.com/office/drawing/2014/main" id="{58EBFBC2-228E-F061-05D8-45F10EE9A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7549" y="727045"/>
            <a:ext cx="2676357" cy="2433469"/>
          </a:xfrm>
          <a:prstGeom prst="rect">
            <a:avLst/>
          </a:prstGeom>
        </p:spPr>
      </p:pic>
      <p:sp>
        <p:nvSpPr>
          <p:cNvPr id="8" name="TextBox 7">
            <a:extLst>
              <a:ext uri="{FF2B5EF4-FFF2-40B4-BE49-F238E27FC236}">
                <a16:creationId xmlns:a16="http://schemas.microsoft.com/office/drawing/2014/main" id="{4636AF1D-9073-CA14-5F72-CFCAD1D5066C}"/>
              </a:ext>
            </a:extLst>
          </p:cNvPr>
          <p:cNvSpPr txBox="1"/>
          <p:nvPr/>
        </p:nvSpPr>
        <p:spPr>
          <a:xfrm>
            <a:off x="5793717" y="3595319"/>
            <a:ext cx="6104020" cy="430887"/>
          </a:xfrm>
          <a:prstGeom prst="rect">
            <a:avLst/>
          </a:prstGeom>
          <a:noFill/>
        </p:spPr>
        <p:txBody>
          <a:bodyPr wrap="square">
            <a:spAutoFit/>
          </a:bodyPr>
          <a:lstStyle/>
          <a:p>
            <a:r>
              <a:rPr lang="en-IN" sz="2200" b="1" dirty="0">
                <a:solidFill>
                  <a:schemeClr val="accent6">
                    <a:lumMod val="40000"/>
                    <a:lumOff val="60000"/>
                  </a:schemeClr>
                </a:solidFill>
              </a:rPr>
              <a:t>Number of Drugs per Medical Condition</a:t>
            </a:r>
          </a:p>
        </p:txBody>
      </p:sp>
      <p:sp>
        <p:nvSpPr>
          <p:cNvPr id="10" name="TextBox 9">
            <a:extLst>
              <a:ext uri="{FF2B5EF4-FFF2-40B4-BE49-F238E27FC236}">
                <a16:creationId xmlns:a16="http://schemas.microsoft.com/office/drawing/2014/main" id="{47942F00-3398-5ECA-38B5-5DE340FB078A}"/>
              </a:ext>
            </a:extLst>
          </p:cNvPr>
          <p:cNvSpPr txBox="1"/>
          <p:nvPr/>
        </p:nvSpPr>
        <p:spPr>
          <a:xfrm>
            <a:off x="5600345" y="4089365"/>
            <a:ext cx="6328267" cy="2308324"/>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rPr>
              <a:t>Pain has the highest number of available drugs (~260+)</a:t>
            </a:r>
          </a:p>
          <a:p>
            <a:pPr marL="285750" indent="-285750">
              <a:buFont typeface="Arial" panose="020B0604020202020204" pitchFamily="34" charset="0"/>
              <a:buChar char="•"/>
            </a:pPr>
            <a:r>
              <a:rPr lang="en-IN" dirty="0">
                <a:latin typeface="Arial" panose="020B0604020202020204" pitchFamily="34" charset="0"/>
              </a:rPr>
              <a:t>Chronic conditions like: Hypertension, Osteoarthritis have moderate treatment options</a:t>
            </a:r>
          </a:p>
          <a:p>
            <a:pPr marL="285750" indent="-285750">
              <a:buFont typeface="Arial" panose="020B0604020202020204" pitchFamily="34" charset="0"/>
              <a:buChar char="•"/>
            </a:pPr>
            <a:r>
              <a:rPr lang="en-IN" dirty="0">
                <a:latin typeface="Arial" panose="020B0604020202020204" pitchFamily="34" charset="0"/>
              </a:rPr>
              <a:t>The availability of multiple drugs for common conditions like pain and acne indicates high treatment demand and variety in therapeutic options. In contrast, fewer drugs for certain conditions may reflect limited treatment choices or specialized therapies.</a:t>
            </a:r>
          </a:p>
        </p:txBody>
      </p:sp>
    </p:spTree>
    <p:extLst>
      <p:ext uri="{BB962C8B-B14F-4D97-AF65-F5344CB8AC3E}">
        <p14:creationId xmlns:p14="http://schemas.microsoft.com/office/powerpoint/2010/main" val="2302665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B2BA4-19E9-5033-10E7-7D0BC1A1A7CA}"/>
            </a:ext>
          </a:extLst>
        </p:cNvPr>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C60A4B96-896C-C649-B76C-021607B98EAD}"/>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28221E16-D244-1DC0-0E38-F31120CFDF62}"/>
              </a:ext>
            </a:extLst>
          </p:cNvPr>
          <p:cNvSpPr txBox="1">
            <a:spLocks/>
          </p:cNvSpPr>
          <p:nvPr/>
        </p:nvSpPr>
        <p:spPr>
          <a:xfrm>
            <a:off x="263387" y="339246"/>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INSIGHTS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21" name="Straight Connector 20">
            <a:extLst>
              <a:ext uri="{FF2B5EF4-FFF2-40B4-BE49-F238E27FC236}">
                <a16:creationId xmlns:a16="http://schemas.microsoft.com/office/drawing/2014/main" id="{96D70E45-A3E8-D893-A1A4-D96590FF798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F89E9D3-38B5-15AD-A1BD-C5600E21A730}"/>
              </a:ext>
            </a:extLst>
          </p:cNvPr>
          <p:cNvSpPr txBox="1"/>
          <p:nvPr/>
        </p:nvSpPr>
        <p:spPr>
          <a:xfrm>
            <a:off x="341133" y="1097905"/>
            <a:ext cx="6100482" cy="430887"/>
          </a:xfrm>
          <a:prstGeom prst="rect">
            <a:avLst/>
          </a:prstGeom>
          <a:noFill/>
        </p:spPr>
        <p:txBody>
          <a:bodyPr wrap="square">
            <a:spAutoFit/>
          </a:bodyPr>
          <a:lstStyle/>
          <a:p>
            <a:r>
              <a:rPr lang="en-IN" sz="2200" b="1" dirty="0">
                <a:solidFill>
                  <a:schemeClr val="accent6">
                    <a:lumMod val="40000"/>
                    <a:lumOff val="60000"/>
                  </a:schemeClr>
                </a:solidFill>
              </a:rPr>
              <a:t>Safety Analysis</a:t>
            </a:r>
          </a:p>
        </p:txBody>
      </p:sp>
      <p:sp>
        <p:nvSpPr>
          <p:cNvPr id="8" name="Rectangle 1">
            <a:extLst>
              <a:ext uri="{FF2B5EF4-FFF2-40B4-BE49-F238E27FC236}">
                <a16:creationId xmlns:a16="http://schemas.microsoft.com/office/drawing/2014/main" id="{3143103D-62E1-9C21-5CF3-91339D7CEF6B}"/>
              </a:ext>
            </a:extLst>
          </p:cNvPr>
          <p:cNvSpPr>
            <a:spLocks noChangeArrowheads="1"/>
          </p:cNvSpPr>
          <p:nvPr/>
        </p:nvSpPr>
        <p:spPr bwMode="auto">
          <a:xfrm>
            <a:off x="446469" y="1714638"/>
            <a:ext cx="588980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Alcohol interaction data largely missing → limitation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Pregnancy categories:  Majority in C and B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Severe side effects (breathing/swelling) are significant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panose="020B0604020202020204" pitchFamily="34" charset="0"/>
              </a:rPr>
              <a:t>Emphasizes need for monitoring </a:t>
            </a:r>
          </a:p>
        </p:txBody>
      </p:sp>
      <p:pic>
        <p:nvPicPr>
          <p:cNvPr id="19" name="Picture 18">
            <a:extLst>
              <a:ext uri="{FF2B5EF4-FFF2-40B4-BE49-F238E27FC236}">
                <a16:creationId xmlns:a16="http://schemas.microsoft.com/office/drawing/2014/main" id="{FFE76C6E-595B-B1AB-6044-690818893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1373" y="3395382"/>
            <a:ext cx="3186480" cy="3156989"/>
          </a:xfrm>
          <a:prstGeom prst="rect">
            <a:avLst/>
          </a:prstGeom>
        </p:spPr>
      </p:pic>
      <p:pic>
        <p:nvPicPr>
          <p:cNvPr id="22" name="Picture 21">
            <a:extLst>
              <a:ext uri="{FF2B5EF4-FFF2-40B4-BE49-F238E27FC236}">
                <a16:creationId xmlns:a16="http://schemas.microsoft.com/office/drawing/2014/main" id="{5B224768-043D-DD4A-0592-729B54CF57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134" y="3429000"/>
            <a:ext cx="2823408" cy="3089754"/>
          </a:xfrm>
          <a:prstGeom prst="rect">
            <a:avLst/>
          </a:prstGeom>
        </p:spPr>
      </p:pic>
    </p:spTree>
    <p:extLst>
      <p:ext uri="{BB962C8B-B14F-4D97-AF65-F5344CB8AC3E}">
        <p14:creationId xmlns:p14="http://schemas.microsoft.com/office/powerpoint/2010/main" val="138844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415D2-CC87-1004-5B8B-E37EC9608A66}"/>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835B86F4-01CD-AE8E-6D93-112721BA3CC3}"/>
              </a:ext>
            </a:extLst>
          </p:cNvPr>
          <p:cNvSpPr>
            <a:spLocks noGrp="1"/>
          </p:cNvSpPr>
          <p:nvPr>
            <p:ph type="title"/>
          </p:nvPr>
        </p:nvSpPr>
        <p:spPr/>
        <p:txBody>
          <a:bodyPr/>
          <a:lstStyle/>
          <a:p>
            <a:r>
              <a:rPr lang="en-US" dirty="0"/>
              <a:t>Project analysis slide 7</a:t>
            </a:r>
          </a:p>
        </p:txBody>
      </p:sp>
      <p:sp>
        <p:nvSpPr>
          <p:cNvPr id="6" name="Slide Number Placeholder 5">
            <a:extLst>
              <a:ext uri="{FF2B5EF4-FFF2-40B4-BE49-F238E27FC236}">
                <a16:creationId xmlns:a16="http://schemas.microsoft.com/office/drawing/2014/main" id="{8A04F793-8CCD-5C34-4D05-C4E61788312D}"/>
              </a:ext>
            </a:extLst>
          </p:cNvPr>
          <p:cNvSpPr>
            <a:spLocks noGrp="1"/>
          </p:cNvSpPr>
          <p:nvPr>
            <p:ph type="sldNum" sz="quarter" idx="12"/>
          </p:nvPr>
        </p:nvSpPr>
        <p:spPr/>
        <p:txBody>
          <a:bodyPr/>
          <a:lstStyle/>
          <a:p>
            <a:fld id="{06FEDF93-2BFD-41CA-ABC7-B039102F3792}" type="slidenum">
              <a:rPr lang="en-US" smtClean="0"/>
              <a:pPr/>
              <a:t>8</a:t>
            </a:fld>
            <a:endParaRPr lang="en-US" dirty="0"/>
          </a:p>
        </p:txBody>
      </p:sp>
      <p:cxnSp>
        <p:nvCxnSpPr>
          <p:cNvPr id="8" name="Straight Connector 7">
            <a:extLst>
              <a:ext uri="{FF2B5EF4-FFF2-40B4-BE49-F238E27FC236}">
                <a16:creationId xmlns:a16="http://schemas.microsoft.com/office/drawing/2014/main" id="{65985E30-15E3-8A10-E7E3-138E29309E08}"/>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CB58902-F809-3B02-260E-E7F308ABDD44}"/>
              </a:ext>
            </a:extLst>
          </p:cNvPr>
          <p:cNvSpPr txBox="1">
            <a:spLocks/>
          </p:cNvSpPr>
          <p:nvPr/>
        </p:nvSpPr>
        <p:spPr>
          <a:xfrm>
            <a:off x="228600" y="332492"/>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CONCLUSION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AFE3F164-7FB0-D6BC-82BF-7D23ED75820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347F121-6F90-9AAA-C538-4744FFD95EF8}"/>
              </a:ext>
            </a:extLst>
          </p:cNvPr>
          <p:cNvSpPr>
            <a:spLocks noChangeArrowheads="1"/>
          </p:cNvSpPr>
          <p:nvPr/>
        </p:nvSpPr>
        <p:spPr bwMode="auto">
          <a:xfrm>
            <a:off x="726396" y="1130965"/>
            <a:ext cx="10164387"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Drug usage patterns reflect common clinical conditions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Allergic and systemic side effects are prominent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Prescription drugs dominate treatment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Safety concerns (pregnancy, alcohol, severity) are critical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Data-driven insights can improve: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Clinical decision-making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Arial" panose="020B0604020202020204" pitchFamily="34" charset="0"/>
              </a:rPr>
              <a:t>Patient safety</a:t>
            </a:r>
          </a:p>
        </p:txBody>
      </p:sp>
    </p:spTree>
    <p:extLst>
      <p:ext uri="{BB962C8B-B14F-4D97-AF65-F5344CB8AC3E}">
        <p14:creationId xmlns:p14="http://schemas.microsoft.com/office/powerpoint/2010/main" val="1477311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Slate</Template>
  <TotalTime>168</TotalTime>
  <Words>496</Words>
  <Application>Microsoft Office PowerPoint</Application>
  <PresentationFormat>Widescreen</PresentationFormat>
  <Paragraphs>84</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Calisto MT</vt:lpstr>
      <vt:lpstr>Wingdings 2</vt:lpstr>
      <vt:lpstr>Slate</vt:lpstr>
      <vt:lpstr>Drug Analysis: Side Effects &amp; Clinical Insights Exploratory data analysis of Drug Safety and Usage Patterns </vt:lpstr>
      <vt:lpstr>Project analysis slide 2</vt:lpstr>
      <vt:lpstr>Project analysis slide 6</vt:lpstr>
      <vt:lpstr>Project analysis slide 6</vt:lpstr>
      <vt:lpstr>Project analysis slide 6</vt:lpstr>
      <vt:lpstr>PowerPoint Presentation</vt:lpstr>
      <vt:lpstr>PowerPoint Presentation</vt:lpstr>
      <vt:lpstr>Project analysis slide 7</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 PRASAD</dc:creator>
  <cp:lastModifiedBy>RAM PRASAD</cp:lastModifiedBy>
  <cp:revision>9</cp:revision>
  <dcterms:created xsi:type="dcterms:W3CDTF">2026-02-14T02:23:23Z</dcterms:created>
  <dcterms:modified xsi:type="dcterms:W3CDTF">2026-03-31T08:26:31Z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